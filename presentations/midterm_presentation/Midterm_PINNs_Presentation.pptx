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017"/>
                </a:solidFill>
              </a:defRPr>
            </a:pPr>
            <a:r>
              <a:t>FINAL YEAR M.SC. MATHEMATICS DISSERTATION | MID-TERM PROGRESS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Physics-Informed Neural Networks for Forward and Inverse Problems in Nonlinear PDEs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C8D7EB"/>
                </a:solidFill>
              </a:defRPr>
            </a:pPr>
            <a:r>
              <a:t>A Scientific Machine Learning Framework for Mesh-Free Numerical Solutions &amp; Parameter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Candidate: Priyanshu Kumar</a:t>
            </a:r>
          </a:p>
          <a:p>
            <a:pPr>
              <a:defRPr sz="1400">
                <a:solidFill>
                  <a:srgbClr val="B4C8DC"/>
                </a:solidFill>
              </a:defRPr>
            </a:pPr>
            <a:r>
              <a:t>Department of Mathematics | Computational Mathematics &amp; SciML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3200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1. Research Motivation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MID-TERM DISSERTATION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The Core Challenge in Scientific Computing: </a:t>
            </a:r>
            <a:r>
              <a:rPr b="0">
                <a:solidFill>
                  <a:srgbClr val="323232"/>
                </a:solidFill>
              </a:rPr>
              <a:t>Partial Differential Equations (PDEs) govern heat transfer, fluid flow, and quantum mechanics. Traditional numerical methods (FDM, FEM, FVM) are fundamentally grid-dependent.</a:t>
            </a:r>
          </a:p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Limitations of Classical Methods: </a:t>
            </a:r>
            <a:r>
              <a:rPr b="0">
                <a:solidFill>
                  <a:srgbClr val="323232"/>
                </a:solidFill>
              </a:rPr>
              <a:t>Mesh generation is computationally expensive, scales poorly in higher dimensions (Curse of Dimensionality), and struggles with complex boundary geometry and sparse/noisy sensor data.</a:t>
            </a:r>
          </a:p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The SciML Paradigm (Physics-Informed Deep Learning): </a:t>
            </a:r>
            <a:r>
              <a:rPr b="0">
                <a:solidFill>
                  <a:srgbClr val="323232"/>
                </a:solidFill>
              </a:rPr>
              <a:t>Instead of treating neural networks as pure black-box curve fitters, Physics-Informed Neural Networks (PINNs) enforce the governing differential equations directly as inductive bias.</a:t>
            </a:r>
          </a:p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Mid-Term Objective: </a:t>
            </a:r>
            <a:r>
              <a:rPr b="0">
                <a:solidFill>
                  <a:srgbClr val="323232"/>
                </a:solidFill>
              </a:rPr>
              <a:t>Independently re-implement foundational PINN algorithms in modern PyTorch, conduct rigorous comparative benchmarks against classical Finite Difference Method (FDM), and prepare for inverse parameter discovery.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3200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2. Mathematical Framework &amp; Composite Loss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MID-TERM DISSERTATION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General PDE Operator in Hilbert Space: </a:t>
            </a:r>
            <a:r>
              <a:rPr b="0">
                <a:solidFill>
                  <a:srgbClr val="323232"/>
                </a:solidFill>
              </a:rPr>
              <a:t>Let D[u](x, t) = u_t + N_x[u] = 0 in domain Q_T, with boundary trace B[u] = 0 on Sigma_T and initial Cauchy data u(x, 0) = u_0(x).</a:t>
            </a:r>
          </a:p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Universal Derivative Approximation Theorem (Pinkus, 1999): </a:t>
            </a:r>
            <a:r>
              <a:rPr b="0">
                <a:solidFill>
                  <a:srgbClr val="323232"/>
                </a:solidFill>
              </a:rPr>
              <a:t>Smooth neural networks sigma in C^infinity (such as tanh or sin) can simultaneously approximate both the solution field u and its partial derivatives to arbitrary precision.</a:t>
            </a:r>
          </a:p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Reverse-Mode Automatic Differentiation (Autograd): </a:t>
            </a:r>
            <a:r>
              <a:rPr b="0">
                <a:solidFill>
                  <a:srgbClr val="323232"/>
                </a:solidFill>
              </a:rPr>
              <a:t>Exact partial derivatives (u_t, u_x, u_xx) are evaluated using the chain rule on the computational graph — eliminating numerical truncation error O(dx^2) without any spatial mesh.</a:t>
            </a:r>
          </a:p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Variational Loss Functional via Monte Carlo Quadrature: </a:t>
            </a:r>
            <a:r>
              <a:rPr b="0">
                <a:solidFill>
                  <a:srgbClr val="323232"/>
                </a:solidFill>
              </a:rPr>
              <a:t>L(theta) = lambda_data * MSE_data + lambda_pde * MSE_pde, where MSE_pde approximates the continuous L^2-norm integral ||D[u_hat]||^2 over scattered interior collocation 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3200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3. Computational Graph &amp; Physics-Informed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MID-TERM DISSERTATION REVIEW</a:t>
            </a:r>
          </a:p>
        </p:txBody>
      </p:sp>
      <p:pic>
        <p:nvPicPr>
          <p:cNvPr id="4" name="Picture 3" descr="pinn_mathematic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25912" cy="60960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3200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3. Benchmark 1: 1D Poisson Equation (PINN vs Classical FDM)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MID-TERM DISSERTATION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55F8E"/>
                </a:solidFill>
              </a:defRPr>
            </a:pPr>
            <a:r>
              <a:t>Mathematical Formulation: -d^2u/dx^2 = pi^2 * sin(pi * x),  x in [-1, 1], with u(-1) = u(1) = 0</a:t>
            </a:r>
            <a:br/>
            <a:r>
              <a:t>Analytical Solution: u*(x) = sin(pi * x)</a:t>
            </a:r>
          </a:p>
        </p:txBody>
      </p:sp>
      <p:pic>
        <p:nvPicPr>
          <p:cNvPr id="5" name="Picture 4" descr="poisson_pinn_vs_f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10725912" cy="29794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3200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4. Quantitative Error &amp;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MID-TERM DISSERTATION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45920"/>
          <a:ext cx="9966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Classical FDM (N=50 Grid)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PINN (PyTorch Autograd)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Mathematical Takeaway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Relative L2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1.3713 × 10^-3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8000"/>
                          </a:solidFill>
                        </a:defRPr>
                      </a:pPr>
                      <a:r>
                        <a:t>7.0039 × 10^-4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PINN achieved 49% lower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Max Absolute Error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1.5204 × 10^-3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7.4602 × 10^-4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Smooth pointwise residual distribution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Mesh 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Strict equidistant 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Mesh-free (scattered points)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PINN avoids meshing bottlenecks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Computation / Training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Linear system solve (tridiagonal)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Adam Optimization (3.23s CPU)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Fast convergence with Tanh activation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3200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5. Benchmark 2: 1D Viscous Burgers' Equation (Nonlinear Dynamics)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MID-TERM DISSERTATION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55F8E"/>
                </a:solidFill>
              </a:defRPr>
            </a:pPr>
            <a:r>
              <a:t>Governing Equation: u_t + u * u_x - nu * u_xx = 0,  x in [-1, 1], t in [0, 1],  nu = 0.01 / pi</a:t>
            </a:r>
            <a:br/>
            <a:r>
              <a:t>Initial Condition: u(x, 0) = -sin(pi * x),  Boundary Condition: u(-1, t) = u(1, t) = 0</a:t>
            </a:r>
          </a:p>
        </p:txBody>
      </p:sp>
      <p:pic>
        <p:nvPicPr>
          <p:cNvPr id="5" name="Picture 4" descr="burgers_pinn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725912" cy="33518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3200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6. Mid-Term Achievements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MID-TERM DISSERTATION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Rigorous Literature Review: </a:t>
            </a:r>
            <a:r>
              <a:rPr b="0">
                <a:solidFill>
                  <a:srgbClr val="323232"/>
                </a:solidFill>
              </a:rPr>
              <a:t>Deep theoretical analysis of Raissi et al. (2017) Part I (Forward Solvers) and Part II (Data-Driven Discovery of PDEs).</a:t>
            </a:r>
          </a:p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Modern Codebase Re-implementation: </a:t>
            </a:r>
            <a:r>
              <a:rPr b="0">
                <a:solidFill>
                  <a:srgbClr val="323232"/>
                </a:solidFill>
              </a:rPr>
              <a:t>Built an independent, modular PyTorch SciML repository from scratch, abandoning legacy TensorFlow 1.x dependencies.</a:t>
            </a:r>
          </a:p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Two Validated Computational Benchmarks: </a:t>
            </a:r>
            <a:r>
              <a:rPr b="0">
                <a:solidFill>
                  <a:srgbClr val="323232"/>
                </a:solidFill>
              </a:rPr>
              <a:t>1D Poisson Boundary Value Problem (validated against analytical &amp; FDM) and 1D Nonlinear Burgers' Equation (capturing shock wave formation).</a:t>
            </a:r>
          </a:p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Formal Research Repository &amp; Documentation: </a:t>
            </a:r>
            <a:r>
              <a:rPr b="0">
                <a:solidFill>
                  <a:srgbClr val="323232"/>
                </a:solidFill>
              </a:rPr>
              <a:t>Structured GitHub repository, sprint schedule (10-day cycles), comprehensive progress reports, and mathematical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3200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7. Research Roadmap for Remaining Months (3 to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MID-TERM DISSERTATION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Month 3: Inverse Problem &amp; Parameter Discovery: </a:t>
            </a:r>
            <a:r>
              <a:rPr b="0">
                <a:solidFill>
                  <a:srgbClr val="323232"/>
                </a:solidFill>
              </a:rPr>
              <a:t>Treat physical viscosity nu as a learnable parameter. Test discovery accuracy from sparse data corrupted with 1%, 5%, and 10% Gaussian noise.</a:t>
            </a:r>
          </a:p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Month 4: Coupled &amp; Complex Systems (Schrödinger Equation): </a:t>
            </a:r>
            <a:r>
              <a:rPr b="0">
                <a:solidFill>
                  <a:srgbClr val="323232"/>
                </a:solidFill>
              </a:rPr>
              <a:t>Extend PINNs to complex-valued wave functions (soliton wave dynamics) and evaluate discrete-time Runge-Kutta PINN schemes.</a:t>
            </a:r>
          </a:p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Month 5: Optimization &amp; Convergence Enhancement: </a:t>
            </a:r>
            <a:r>
              <a:rPr b="0">
                <a:solidFill>
                  <a:srgbClr val="323232"/>
                </a:solidFill>
              </a:rPr>
              <a:t>Implement hybrid Adam -&gt; L-BFGS optimization routine and evaluate self-adaptive loss weighting schemes to resolve gradient pathologies.</a:t>
            </a:r>
          </a:p>
          <a:p>
            <a:pPr>
              <a:spcAft>
                <a:spcPts val="1400"/>
              </a:spcAft>
              <a:defRPr b="1" sz="1600">
                <a:solidFill>
                  <a:srgbClr val="102C57"/>
                </a:solidFill>
              </a:defRPr>
            </a:pPr>
            <a:r>
              <a:t>• Month 6: Thesis Drafting &amp; Final Defense Preparation: </a:t>
            </a:r>
            <a:r>
              <a:rPr b="0">
                <a:solidFill>
                  <a:srgbClr val="323232"/>
                </a:solidFill>
              </a:rPr>
              <a:t>Complete LaTeX dissertation report, generate publication-grade figures, and prepare the final viva presentation.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017"/>
                </a:solidFill>
              </a:defRPr>
            </a:pPr>
            <a:r>
              <a:t>Thank You!</a:t>
            </a:r>
          </a:p>
          <a:p>
            <a:pPr algn="ctr">
              <a:spcBef>
                <a:spcPts val="2000"/>
              </a:spcBef>
              <a:defRPr sz="2200">
                <a:solidFill>
                  <a:srgbClr val="FFFFFF"/>
                </a:solidFill>
              </a:defRPr>
            </a:pPr>
            <a:r>
              <a:t>Questions &amp; Suggestions are Warmly Welcomed.</a:t>
            </a:r>
          </a:p>
          <a:p>
            <a:pPr algn="ctr">
              <a:spcBef>
                <a:spcPts val="2500"/>
              </a:spcBef>
              <a:defRPr sz="1600">
                <a:solidFill>
                  <a:srgbClr val="B4C8DC"/>
                </a:solidFill>
              </a:defRPr>
            </a:pPr>
            <a:r>
              <a:t>Candidate: Priyanshu Kumar | Department of Mathematics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